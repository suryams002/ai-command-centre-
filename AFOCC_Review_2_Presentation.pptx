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86" y="-8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balam19106@gmail.com" userId="e3a19de2a1eaac1b" providerId="LiveId" clId="{0FB34D9B-55AE-4455-B7ED-2CC65D462CE9}"/>
    <pc:docChg chg="modSld">
      <pc:chgData name="sanjaybalam19106@gmail.com" userId="e3a19de2a1eaac1b" providerId="LiveId" clId="{0FB34D9B-55AE-4455-B7ED-2CC65D462CE9}" dt="2026-09-02T04:12:26.509" v="1" actId="1038"/>
      <pc:docMkLst>
        <pc:docMk/>
      </pc:docMkLst>
      <pc:sldChg chg="modSp mod">
        <pc:chgData name="sanjaybalam19106@gmail.com" userId="e3a19de2a1eaac1b" providerId="LiveId" clId="{0FB34D9B-55AE-4455-B7ED-2CC65D462CE9}" dt="2026-09-02T04:12:26.509" v="1" actId="1038"/>
        <pc:sldMkLst>
          <pc:docMk/>
          <pc:sldMk cId="0" sldId="266"/>
        </pc:sldMkLst>
        <pc:spChg chg="mod">
          <ac:chgData name="sanjaybalam19106@gmail.com" userId="e3a19de2a1eaac1b" providerId="LiveId" clId="{0FB34D9B-55AE-4455-B7ED-2CC65D462CE9}" dt="2026-09-02T04:12:26.509" v="1" actId="1038"/>
          <ac:spMkLst>
            <pc:docMk/>
            <pc:sldMk cId="0" sldId="266"/>
            <ac:spMk id="2" creationId="{00000000-0000-0000-0000-000000000000}"/>
          </ac:spMkLst>
        </pc:spChg>
        <pc:spChg chg="mod">
          <ac:chgData name="sanjaybalam19106@gmail.com" userId="e3a19de2a1eaac1b" providerId="LiveId" clId="{0FB34D9B-55AE-4455-B7ED-2CC65D462CE9}" dt="2026-09-02T04:12:23.232" v="0" actId="1038"/>
          <ac:spMkLst>
            <pc:docMk/>
            <pc:sldMk cId="0" sldId="26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822B"/>
                </a:solidFill>
              </a:defRPr>
            </a:pPr>
            <a:r>
              <a:t>ACADEMIC REVIEW 2 PRESENTATION</a:t>
            </a:r>
          </a:p>
          <a:p>
            <a:pPr>
              <a:defRPr sz="2800" b="1">
                <a:solidFill>
                  <a:srgbClr val="1E5631"/>
                </a:solidFill>
              </a:defRPr>
            </a:pPr>
            <a:r>
              <a:t>AI FARM OPERATIONS COMMAND CENTER (AFOCC)</a:t>
            </a:r>
          </a:p>
          <a:p>
            <a:pPr>
              <a:defRPr sz="1600" i="1">
                <a:solidFill>
                  <a:srgbClr val="0F4C81"/>
                </a:solidFill>
              </a:defRPr>
            </a:pPr>
            <a:r>
              <a:t>A Unified Natural-Language Operational Orchestration Layer for Smart Agriculture</a:t>
            </a:r>
          </a:p>
          <a:p>
            <a:br/>
            <a:r>
              <a:t>Student Name: SURYAMS002</a:t>
            </a:r>
            <a:br/>
            <a:r>
              <a:t>Registration Number: [PLACEHOLDER]</a:t>
            </a:r>
            <a:br/>
            <a:r>
              <a:t>Department: Computer Science &amp; Engineering / AI</a:t>
            </a:r>
            <a:br/>
            <a:r>
              <a:t>Guide: Dr. [PLACEHOLDER]</a:t>
            </a:r>
            <a:br/>
            <a:r>
              <a:t>Institution: [PLACEHOLDER]</a:t>
            </a:r>
            <a:br/>
            <a:r>
              <a:t>Date: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Presentation 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1. Introduction &amp;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2. Existing Farm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3. Problem Statement &amp;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977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4. Taxonomy of 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800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5. Systematic Literature Review (22 Papers)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6. Literature Synthesis &amp; 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7160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508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7. Scope Definition (V1 vs Future)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19456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2331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8. Research Logic Mapping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01752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80" y="3154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9. Complete System 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4048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3977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10. Agentic Workflow &amp;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66344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4800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11. Implementation Progress Matrix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548640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56235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12. Preliminary Execution Traces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37160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83880" y="1508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13. Comparative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219456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83880" y="2331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14. Contribution &amp; Novelty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01752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83880" y="3154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15. Conclusion &amp; Future Roadmap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84048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3880" y="3977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16. References (Parts 1 &amp; 2)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4663440"/>
            <a:ext cx="338328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80" y="4800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D37"/>
                </a:solidFill>
              </a:defRPr>
            </a:pPr>
            <a:r>
              <a:t>17. Faculty Defense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1. Introduction: Evolution &amp; Complexity in Smart Agriculture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631"/>
                </a:solidFill>
              </a:defRPr>
            </a:pPr>
            <a:r>
              <a:t>Evolution of Agriculture 4.0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• Integration of IoT sensors, wireless sensor networks (WSNs), and predictive machine learning models.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• Proven benefits in crop yield optimization and resource conservation (Khaliq et al., 2025).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• Transition from manual observation to data-driven decision support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The Operational Fragmentation Challenge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• Proliferation of isolated applications: Farmers face separate apps for weather, soil sensors, disease checks, and pump switches.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• Cognitive Overload: High data interdependency creates usability friction (Romera et al., 2024).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• Core Motivation: Although individual smart-farming capabilities are increasingly available, interacting with multiple farm functions remains a system-integration and operational-orchestration challenge.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2. Representative Existing Farm Operation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631"/>
                </a:solidFill>
              </a:defRPr>
            </a:pPr>
            <a:r>
              <a:t>Observed Workflow Across Task-Specific Systems (Human-as-Data-Router)</a:t>
            </a:r>
          </a:p>
          <a:p>
            <a:pPr>
              <a:defRPr sz="1400">
                <a:solidFill>
                  <a:srgbClr val="232D37"/>
                </a:solidFill>
              </a:defRPr>
            </a:pPr>
            <a:r>
              <a:t>1. Read Dashboard -&gt; Farmer checks soil moisture &amp; tank level across separate mobile apps.</a:t>
            </a:r>
          </a:p>
          <a:p>
            <a:pPr>
              <a:defRPr sz="1400">
                <a:solidFill>
                  <a:srgbClr val="232D37"/>
                </a:solidFill>
              </a:defRPr>
            </a:pPr>
            <a:r>
              <a:t>2. Interpret Context -&gt; Farmer manually cross-references current weather forecasts and threshold rules.</a:t>
            </a:r>
          </a:p>
          <a:p>
            <a:pPr>
              <a:defRPr sz="1400">
                <a:solidFill>
                  <a:srgbClr val="232D37"/>
                </a:solidFill>
              </a:defRPr>
            </a:pPr>
            <a:r>
              <a:t>3. Open Control App -&gt; Farmer opens separate pump control interface or physically navigates to field.</a:t>
            </a:r>
          </a:p>
          <a:p>
            <a:pPr>
              <a:defRPr sz="1400">
                <a:solidFill>
                  <a:srgbClr val="232D37"/>
                </a:solidFill>
              </a:defRPr>
            </a:pPr>
            <a:r>
              <a:t>4. Evaluate Safety -&gt; Farmer manually verifies water reserve capacity to avoid running pump dry.</a:t>
            </a:r>
          </a:p>
          <a:p>
            <a:pPr>
              <a:defRPr sz="1400">
                <a:solidFill>
                  <a:srgbClr val="232D37"/>
                </a:solidFill>
              </a:defRPr>
            </a:pPr>
            <a:r>
              <a:t>5. Actuate &amp; Log -&gt; Farmer switches pump ON/OFF and manually records the operation.</a:t>
            </a:r>
          </a:p>
          <a:p>
            <a:br/>
            <a:r>
              <a:t>KEY LIMITATION: Heavy human cognitive load and manual intervention required at every bridge between sensing, decision-making, and actuation.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3. Problem Statement &amp; Literature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800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822B"/>
                </a:solidFill>
              </a:defRPr>
            </a:pPr>
            <a:r>
              <a:t>CORE RESEARCH PROBLEM STATEMENT</a:t>
            </a:r>
          </a:p>
          <a:p>
            <a:pPr>
              <a:defRPr sz="1500" b="1">
                <a:solidFill>
                  <a:srgbClr val="1E5631"/>
                </a:solidFill>
              </a:defRPr>
            </a:pPr>
            <a:r>
              <a:t>Farm sensing, decision-support, and automation capabilities are often accessed through separate task-specific interfaces or workflows, creating an opportunity for a unified natural-language operational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0728655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101800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4C81"/>
                </a:solidFill>
              </a:defRPr>
            </a:pPr>
            <a:r>
              <a:t>EVIDENCE FROM LITERATURE</a:t>
            </a:r>
          </a:p>
          <a:p>
            <a:pPr>
              <a:defRPr sz="1200">
                <a:solidFill>
                  <a:srgbClr val="232D37"/>
                </a:solidFill>
              </a:defRPr>
            </a:pPr>
            <a:r>
              <a:t>• System Fragmentation &amp; Usability Barriers: Romera et al. (2024) catalogued 178 farm tasks and proved high task interdependency causes severe interoperability issues when tools are built in isolation.</a:t>
            </a:r>
          </a:p>
          <a:p>
            <a:pPr>
              <a:defRPr sz="1200">
                <a:solidFill>
                  <a:srgbClr val="232D37"/>
                </a:solidFill>
              </a:defRPr>
            </a:pPr>
            <a:r>
              <a:t>• Lack of Natural Language Control: Reddy et al. (2025) and Koopman et al. (2024) developed NLP chatbots, but restricted them strictly to text Q&amp;A without system tool execution or hardware actuation.</a:t>
            </a:r>
          </a:p>
          <a:p>
            <a:pPr>
              <a:defRPr sz="1200">
                <a:solidFill>
                  <a:srgbClr val="232D37"/>
                </a:solidFill>
              </a:defRPr>
            </a:pPr>
            <a:r>
              <a:t>• Absence of Safety Validation Gates: Khaliq et al. (2025) achieved 99.13% ML accuracy for irrigation advice, but omitted active safety constraint validation prior to physical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4. Taxonomy of Existing Smart Farming 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5631"/>
                </a:solidFill>
              </a:defRPr>
            </a:pPr>
            <a:r>
              <a:t>1. IoT &amp; Hardware Survey</a:t>
            </a:r>
          </a:p>
          <a:p>
            <a:pPr>
              <a:defRPr sz="1100" i="1">
                <a:solidFill>
                  <a:srgbClr val="0F4C81"/>
                </a:solidFill>
              </a:defRPr>
            </a:pPr>
            <a:r>
              <a:t>Sensors, MCUs &amp; Hardware</a:t>
            </a:r>
            <a:br/>
            <a:r>
              <a:t>(Prakash '23; Katkoori '25)</a:t>
            </a:r>
          </a:p>
          <a:p>
            <a:br/>
            <a:r>
              <a:t>Reviews hardware &amp; sensors; lacks AI reasoning &amp; natural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38328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3484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5631"/>
                </a:solidFill>
              </a:defRPr>
            </a:pPr>
            <a:r>
              <a:t>2. AI/ML &amp; XAI Analytics</a:t>
            </a:r>
          </a:p>
          <a:p>
            <a:pPr>
              <a:defRPr sz="1100" i="1">
                <a:solidFill>
                  <a:srgbClr val="0F4C81"/>
                </a:solidFill>
              </a:defRPr>
            </a:pPr>
            <a:r>
              <a:t>TabNet, SwiFT, TTL models</a:t>
            </a:r>
            <a:br/>
            <a:r>
              <a:t>(Khaliq '25; Martin '24)</a:t>
            </a:r>
          </a:p>
          <a:p>
            <a:br/>
            <a:r>
              <a:t>High prediction accuracy; isolated from physical actuators.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38328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5631"/>
                </a:solidFill>
              </a:defRPr>
            </a:pPr>
            <a:r>
              <a:t>3. AI &amp; Edge Automation</a:t>
            </a:r>
          </a:p>
          <a:p>
            <a:pPr>
              <a:defRPr sz="1100" i="1">
                <a:solidFill>
                  <a:srgbClr val="0F4C81"/>
                </a:solidFill>
              </a:defRPr>
            </a:pPr>
            <a:r>
              <a:t>Edge AI &amp; IoT Controllers</a:t>
            </a:r>
            <a:br/>
            <a:r>
              <a:t>(Elijah '24; Sitharthan '23)</a:t>
            </a:r>
          </a:p>
          <a:p>
            <a:br/>
            <a:r>
              <a:t>Reduces cloud latency; lacks agentic tool dispatch &amp; confirmation.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338328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886199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5631"/>
                </a:solidFill>
              </a:defRPr>
            </a:pPr>
            <a:r>
              <a:t>4. Real-Time Sensing &amp; AI</a:t>
            </a:r>
          </a:p>
          <a:p>
            <a:pPr>
              <a:defRPr sz="1100" i="1">
                <a:solidFill>
                  <a:srgbClr val="0F4C81"/>
                </a:solidFill>
              </a:defRPr>
            </a:pPr>
            <a:r>
              <a:t>Multimodal Sensor AI Assist</a:t>
            </a:r>
            <a:br/>
            <a:r>
              <a:t>(Sharma '24; Reddy '25)</a:t>
            </a:r>
          </a:p>
          <a:p>
            <a:br/>
            <a:r>
              <a:t>Provides real-time advice; cannot trigger physical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749039"/>
            <a:ext cx="338328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3886199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5631"/>
                </a:solidFill>
              </a:defRPr>
            </a:pPr>
            <a:r>
              <a:t>5. IoT Dashboards</a:t>
            </a:r>
          </a:p>
          <a:p>
            <a:pPr>
              <a:defRPr sz="1100" i="1">
                <a:solidFill>
                  <a:srgbClr val="0F4C81"/>
                </a:solidFill>
              </a:defRPr>
            </a:pPr>
            <a:r>
              <a:t>Web Telemetry Dashboards</a:t>
            </a:r>
            <a:br/>
            <a:r>
              <a:t>(Villa-Henriksen '24; Al-Fuqaha '25)</a:t>
            </a:r>
          </a:p>
          <a:p>
            <a:br/>
            <a:r>
              <a:t>Visual monitoring UI; lacks natural language tool calling.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749039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3886199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22B"/>
                </a:solidFill>
              </a:defRPr>
            </a:pPr>
            <a:r>
              <a:t>6. Proposed (AFOCC)</a:t>
            </a:r>
          </a:p>
          <a:p>
            <a:pPr>
              <a:defRPr sz="1100" i="1">
                <a:solidFill>
                  <a:srgbClr val="0F4C81"/>
                </a:solidFill>
              </a:defRPr>
            </a:pPr>
            <a:r>
              <a:t>Unified Agentic Orchestration</a:t>
            </a:r>
            <a:br/>
            <a:r>
              <a:t>(SURYAMS002 2026)</a:t>
            </a:r>
          </a:p>
          <a:p>
            <a:br/>
            <a:r>
              <a:t>Integrates Natural Language + Tools + Safety + Live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5. Systematic Literature Review Matrix (Part 1: Papers 1–6)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S. No.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Author(s), Year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 / Approach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Gap Identified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Khaliq et al. (2025)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TabNet + XAI (LIME), SwiFT, TTL models, 7-in-1 Soil Sensor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Achieved 99.13% accuracy for TTL irrigation advice, 98.75% for SwiFT crop recommendation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Isolated prediction models without real-time physical actuator safety validation or natural language control.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Katkoori et al.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ESP32 + FreeRTOS preemptive multitasking, IPC message queues, 5 sensors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Reduced sensor task execution from 8ms to 3ms with 40-60% CPU 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Low-level hardware sensing without AI reasoning, natural language interaction, or safety rule validation.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Mehedi et al. (2024)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Survey of Remote Sensing &amp; DSS, NDVI/GNDVI/EVI2/GI indices, UAVs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Analyzes remote sensing spectral indices and DSS challenges in precision agriculture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High spatial-temporal satellite data is fragmented; lacks integration with farmer natural-language dialogue.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Gupta et al. (2020)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Multi-layered smart farming security architecture (Physical/Edge/Cloud)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Taxonomizes cybersecurity vulnerabilities and attack vectors in smart farming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Defines security taxonomy without providing an active software safety gate that blocks hazardous actuation.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Mahmoud &amp; Blankson (2026)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PLS-SEM on 211 SME farmers in Ghana using Triple Bottom Line framework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Empirically proves AI adoption directly improves crop management &amp; resource efficiency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Socio-economic empirical study; does not provide technical software implementation or automated control architectures.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Sitharthan et al.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Microprocessor prediction algorithm + weather history + 6G-enabled 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Achieved 86.34% accuracy and 91% precision for autonomous predictive irrigation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High bandwidth dependence (6G); lacks explainable rule engine and human confirmation safety layer.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5. Systematic Literature Review Matrix (Part 2: Papers 7–12)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S. No.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Author(s), Year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 / Approach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Gap Identified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Romera et al. (2024)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Systems engineering &amp; task ontology cataloguing 178 routine farm tasks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Proves fragmented digital tools increase complexity, highlighting need for holistic digital layer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Conceptual ontology framework without an executable software system or conversational interface.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Raouhi et al.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Hybrid CNN-LSTM deep learning model + mobile/web dashboard (AIDSII platform)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Developed an open-source web and mobile digital platform for predictive irrigation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Fixed CNN-LSTM model without natural language interaction or safety constraint checks.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Martin et al. (2024)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EBMO feature selection + ML classifiers (SVM, RF, NN) + XAI interpretability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Reduces high dataset dimensionality while delivering explainable crop recommendations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Off-line batch ML processing without real-time API integrations, natural language agents, or actuator control.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Singh et al.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IoT sensor nodes + Cloud pipeline + ML ensemble algorithms (RF, CNN, ANN)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Comprehensive data pipeline connecting physical IoT sensors to cloud-based ML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System acts purely as a dashboard platform without automated action execution or interactive natural language control.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Muhammed et al. (2024)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Literature review on AIoT architectures, Federated Learning (FL), edge-cloud continuum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Synthesizes key architectural patterns for AIoT and privacy-preserving Federated Learning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Broad architectural survey; lacks practical implementation of natural language command systems and safety verification gates.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Mohyuddin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Comparative review of ML algorithms (RF, SVR, Decision Trees, ANNs)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Benchmarks ML algorithms across yield prediction, disease detection, and smart irrigation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Focuses on isolated ML algorithms without presenting an integrated human-in-the-loop command interface.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5. Systematic Literature Review Matrix (Part 3: Papers 13–18)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S. No.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Author(s), Year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 / Approach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Gap Identified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Araújo et al. (2024)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ID3SAS methodology combining proximal sensing, LoRaWAN WSN, and ML models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Real-world deployment of LoRaWAN proximal sensing for vineyard microclimate decision 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Specialized for vineyards; lacks conversational natural language interface and universal multi-crop safety rule validation.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Reddy et al.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Stacked ensemble (RF+Gradient Boosting) + FastText NLP chatbot + Flask web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Combines an NLP Q&amp;A chatbot with stacked ensemble ML for fast crop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Chatbot is an informational Q&amp;A bot (cannot trigger farm tools or control irrigation actuators); lacks safety validation.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Zhang &amp; Yadav (2025)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Conceptual framework evaluating Generative AI / LLMs (ChatGPT, Gemini, LLaMA)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Identifies Generative AI as key bridge to overcome farmer technical literacy barriers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Conceptual paper without an executable tool-calling agent implementation, rule-based decision engine, or safety layer.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Jeya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Fine-tuned Gemini LLM + SerpApi Google Maps integration + Vector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Integrates fine-tuned LLMs with RAG and location APIs for personalized crop advice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Information retrieval and recommendation system only; cannot interact with IoT devices, check water tank levels, or control pumps.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Mowla et al. (2023)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Survey of IoT-WSN architectures, wireless protocols (ZigBee, Wi-Fi, LoRaWAN)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Comprehensive mapping of wireless protocols, sensor hardware, and network topologies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Network-centric survey; does not address high-level AI orchestration, agentic tool calling, or user confirmation workflows.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Koopman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Information retrieval agent (AgAsk) using neural rankers &amp; Telegram messaging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Open IR test collection and neural search agent for mining scientific documents to answer 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Document search Q&amp;A agent; does not connect to live farm sensors, weather APIs, or automated irrigation actuators.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5. Systematic Literature Review Matrix (Part 4: Papers 19–22 - Automation, Sensors &amp; Dashboards)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S. No.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Author(s), Year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 / Approach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Gap Identified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Prakash et al. (2023)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PRISMA systematic review &amp; bibliometric analysis of IoT sensors, MCUs &amp; wireless protocols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Categorizes smart farming hardware, sensor types (soil NPK, moisture, gas, weather), and wireless transmission tradeoffs (Elsevier, Sensors &amp; Actuators A)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Hardware and sensor survey operating in isolation without intelligent natural-language reasoning, agentic tool orchestration, or safety rule constraint gates.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Elijah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IoT edge-computing framework with fuzzy logic &amp; ML algorithms for autonomous irrigation valve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Reduces cloud latency &amp; bandwidth by executing real-time automated actuation at the edge (IEEE / ScienceDirect)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Autonomous edge control executing static rules without natural-language agentic tool selection or interactive farmer confirmation workflows.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Sharma et al. (2024)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Multimodal sensor fusion (ESP32 soil NPK, moisture, temp) integrated with rule-based AI recommendation assistant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Provides real-time microclimate monitoring &amp; predictive soil health advice with sub-second sampling (Springer)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Sensor fusion and AI assistant focus purely on advice generation; cannot execute operational tool functions or validate physical safety constraints.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Villa-Henriksen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Web-based Streamlit/FastAPI cloud dashboard connected to real-time wireless sensor networks &amp; weather data feeds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Interactive web interface displaying live soil, water, and microclimate telemetry cards with trend logging (ScienceDirect / IEEE)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Dashboard is a passive visual monitoring tool that relies on manual user clicking; lacks autonomous agentic natural-language tool calling.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914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6. Literature Synthesis &amp; Research Gap Progression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3460" y="155448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5631"/>
                </a:solidFill>
              </a:defRPr>
            </a:pPr>
            <a:r>
              <a:rPr dirty="0"/>
              <a:t>RESEARCH PROGRESSION TOWARD AFOCC INTEGRATED ORCHESTRATION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rPr dirty="0"/>
              <a:t>1. IoT Sensors &amp; Hardware Survey (Prakash '23, </a:t>
            </a:r>
            <a:r>
              <a:rPr dirty="0" err="1"/>
              <a:t>Katkoori</a:t>
            </a:r>
            <a:r>
              <a:rPr dirty="0"/>
              <a:t> '25) -&gt; Captures physical telemetry (ESP32 / WSN).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rPr dirty="0"/>
              <a:t>2. ML &amp; XAI Decision Models (Khaliq '25, Martin '24) -&gt; Provides high-accuracy predictions &amp; feature explanations.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rPr dirty="0"/>
              <a:t>3. Real-Time Sensing &amp; AI Assistance (Sharma '24, Elijah '24) -&gt; Delivers sub-second sampling &amp; edge automation.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rPr dirty="0"/>
              <a:t>4. Web Telemetry Dashboards (Villa-Henriksen '24, Al-Fuqaha '25) -&gt; Displays live sensor cards &amp; microclimate logs.</a:t>
            </a:r>
          </a:p>
          <a:p>
            <a:pPr>
              <a:defRPr sz="1200" b="1">
                <a:solidFill>
                  <a:srgbClr val="D9822B"/>
                </a:solidFill>
              </a:defRPr>
            </a:pPr>
            <a:r>
              <a:rPr dirty="0"/>
              <a:t>IDENTIFIED OPERATIONAL INTEGRATION GAP:</a:t>
            </a:r>
            <a:br>
              <a:rPr dirty="0"/>
            </a:br>
            <a:r>
              <a:rPr dirty="0"/>
              <a:t>No reviewed system connects Natural Language -&gt; Agentic Tool Execution -&gt; Rule Decision Engine -&gt; Safety Layer -&gt; Real-Time Dashboard -&gt; Physical Actuation.</a:t>
            </a:r>
          </a:p>
          <a:p>
            <a:pPr>
              <a:defRPr sz="1200" b="1">
                <a:solidFill>
                  <a:srgbClr val="0F4C81"/>
                </a:solidFill>
              </a:defRPr>
            </a:pPr>
            <a:r>
              <a:rPr dirty="0"/>
              <a:t>PROPOSED AFOCC SYSTEM (SURYAMS002 2026):</a:t>
            </a:r>
            <a:br>
              <a:rPr dirty="0"/>
            </a:br>
            <a:r>
              <a:rPr dirty="0"/>
              <a:t>Provides a unified operational orchestration layer connecting farmer intent with real-time sensors, </a:t>
            </a:r>
            <a:r>
              <a:rPr dirty="0" err="1"/>
              <a:t>Streamlit</a:t>
            </a:r>
            <a:r>
              <a:rPr dirty="0"/>
              <a:t> command dashboard, and safety-gated actuators.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7. Scope Definition (V1 Implemented vs. Future Roadmap)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5631"/>
                </a:solidFill>
              </a:defRPr>
            </a:pPr>
            <a:r>
              <a:t>V1 INCLUDED SCOPE (Completed &amp; Verified)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✅ Natural Language Console (OpenAI Tool Calling Agent)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✅ 7 Modular Farm Tools (Water, Soil, Weather, Status, Irrigation)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✅ Live External Weather API (OpenWeatherMap HTTP Integration)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✅ Explainable Decision Engine (Soil &lt;30%, Tank &gt;20%, Rain &lt;60%)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✅ Safety Validation Layer (Tank reserve hazard block &lt;=10%)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✅ Interactive Farmer Confirmation Workflow ('Yes' execution)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✅ Persistent SQLite Operation Audit Logging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✅ Live Streamlit Command Center Web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4C81"/>
                </a:solidFill>
              </a:defRPr>
            </a:pPr>
            <a:r>
              <a:t>FUTURE HARDWARE &amp; AUTOMATION ROADMAP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⚡ Xilinx (Zynq / Vivado) FPGA Edge Hardware Controller for zero-latency sensor aggregation &amp; hardware safety gating.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📡 Real-Time Physical IoT Sensors (ESP32 / Modbus / LoRaWAN nodes for soil NPK, pH, moisture, and tank ultrasonic levels).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⚙️ n8n Automation Engine for multi-device relay switching &amp; alert dispatch.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📊 Enhanced Live Streamlit Dashboard with WebSocket real-time sensor charts.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8. Research Logic Mapping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5631"/>
                </a:solidFill>
              </a:defRPr>
            </a:pPr>
            <a:r>
              <a:t>PROBLEM: </a:t>
            </a:r>
            <a:r>
              <a:rPr sz="1200" b="0">
                <a:solidFill>
                  <a:srgbClr val="232D37"/>
                </a:solidFill>
              </a:rPr>
              <a:t>Task-specific farming apps create usability fragmentation and require manual human data routing.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728655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22B"/>
                </a:solidFill>
              </a:defRPr>
            </a:pPr>
            <a:r>
              <a:t>EVIDENCE: </a:t>
            </a:r>
            <a:r>
              <a:rPr sz="1200" b="0">
                <a:solidFill>
                  <a:srgbClr val="232D37"/>
                </a:solidFill>
              </a:rPr>
              <a:t>22 papers demonstrate isolated sensing, ML models, and Q&amp;A chatbots lack integrated actuation.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10728655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22B"/>
                </a:solidFill>
              </a:defRPr>
            </a:pPr>
            <a:r>
              <a:t>GAP / OPPORTUNITY: </a:t>
            </a:r>
            <a:r>
              <a:rPr sz="1200" b="0">
                <a:solidFill>
                  <a:srgbClr val="232D37"/>
                </a:solidFill>
              </a:rPr>
              <a:t>Need for a unified operational layer connecting natural language intent to farm tools &amp; safety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10728655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5631"/>
                </a:solidFill>
              </a:defRPr>
            </a:pPr>
            <a:r>
              <a:t>PROPOSED SOLUTION: </a:t>
            </a:r>
            <a:r>
              <a:rPr sz="1200" b="0">
                <a:solidFill>
                  <a:srgbClr val="232D37"/>
                </a:solidFill>
              </a:rPr>
              <a:t>AI Farm Operations Command Center (AFOCC) - Agentic tool-calling command center &amp; hardware gateway.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4C81"/>
                </a:solidFill>
              </a:defRPr>
            </a:pPr>
            <a:r>
              <a:t>CONTRIBUTION: </a:t>
            </a:r>
            <a:r>
              <a:rPr sz="1200" b="0">
                <a:solidFill>
                  <a:srgbClr val="232D37"/>
                </a:solidFill>
              </a:rPr>
              <a:t>Demonstrated agentic workflow with explainable rule logic, Streamlit UI, and safety validation.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9. Complete Multi-Tiered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5631"/>
                </a:solidFill>
              </a:defRPr>
            </a:pPr>
            <a:r>
              <a:t>AFOCC COMPLETE SYSTEM ARCHITECTURE DIAGRAM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[ 1. FARMER INTERFACE ]        --&gt; Streamlit Real-Time Dashboard (Natural Language Chat &amp; Telemetry Cards)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                                             │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                                             ▼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[ 2. AGENTIC ORCHESTRATOR ]    --&gt; OpenAI gpt-4o-mini AI Agent + Resilient Fallback Intent Router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                                             │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                                             ▼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[ 3. MODULAR TOOL SUITE ]      --&gt; water.py, soil.py, weather.py (Live OpenWeather REST API), farm_status.py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                                             │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                                             ▼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[ 4. STATE &amp; DECISION ENGINE ] --&gt; SQLite State Database (afocc.db) + Rule-Based Decision Engine (Threshold Rules)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                                             │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                                             ▼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[ 5. SAFETY VALIDATION LAYER ] --&gt; SafetyValidator (Checks Field Existence, Tank Reserve &lt;=10% Hazard Block)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                                             │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                                             ▼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[ 6. HARDWARE &amp; EDGE LAYER ]   --&gt; ESP32 Modbus WSN Nodes (Sensors) | Xilinx FPGA Edge Controller (Future V2)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                                             │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                                             ▼</a:t>
            </a:r>
          </a:p>
          <a:p>
            <a:pPr>
              <a:defRPr sz="1050">
                <a:solidFill>
                  <a:srgbClr val="232D37"/>
                </a:solidFill>
                <a:latin typeface="Consolas"/>
              </a:defRPr>
            </a:pPr>
            <a:r>
              <a:t>  [ 7. PHYSICAL ACTUATION ]      --&gt; Irrigation Relay / Solenoid Valve + Operation Audit Logger (operation_logs)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10. Agentic Workflow &amp; Autonomous Decision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5631"/>
                </a:solidFill>
              </a:defRPr>
            </a:pPr>
            <a:r>
              <a:t>Trace Example: Farmer asks 'Should I irrigate Field A?'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Step 1: Farmer enters command -&gt; Streamlit Natural Language Console.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Step 2: AFOCC Agent sends user prompt + 7 tool JSON schemas to OpenAI API.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Step 3: LLM identifies intent and returns tool call: get_soil_moisture('Field A').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Step 4: Agent executes soil.py -&gt; Returns 24.0% moisture (Below 30% threshold).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Step 5: Agent automatically calls get_water_tank_status() (Returns 40.0% tank reserve) and get_weather() (Returns 15.0% rain probability).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Step 6: Decision Engine evaluates rules: Soil Moisture (24%) &lt; 30% [TRUE] | Tank (40%) &gt; 20% [TRUE] | Rain (15%) &lt; 60% [TRUE].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Step 7: Safety Layer returns recommendation: RECOMMENDED.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Step 8: Agent synthesizes clear response + prompts farmer for confirmation.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11. Implementation Progress &amp; Verification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 / Component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File Location / Target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Result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SQLite Schema &amp; DB Manager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app/database/database.py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Passed (4/4)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FastAPI REST API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app/api/routes.py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Passed (3/3)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7 Modular Farm Tools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app/tools/*.py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Passed (5/5)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OpenWeatherMap Live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app/tools/weather.py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Passed (1/1)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Rule-Based Decision Engine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app/services/decision_engine.py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Passed (2/2)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Mock Actuator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app/services/actuator.py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Passed (2/2)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OpenAI Tool Calling Agent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app/agent/agent.py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Passed (4/4)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Safety Validation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app/services/safety.py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Passed (3/3)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Streamlit Command Dashboard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streamlit_app.py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Live at :8501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27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ESP32 Sensors &amp; Xilinx FPGA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Target: Modbus &amp; Zynq/Vivado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PLANNED (V2)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D37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12. Preliminary Execution Results &amp; Live Traces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5631"/>
                </a:solidFill>
              </a:defRPr>
            </a:pPr>
            <a:r>
              <a:t>Trace 1: Command Center Telemetry &amp; Chat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• Live Telemetry Cards: Displays Water Tank (40.0%), Field A (24.0% moisture), Field B (48.0%), Weather (31°C, 15% rain prob).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• Natural Language Command: Farmer types 'Should I irrigate Field A?'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• Agent Output: Agent fetches 3 tools, evaluates decision engine, and displays recommendation with confirmation buttons.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4C81"/>
                </a:solidFill>
              </a:defRPr>
            </a:pPr>
            <a:r>
              <a:t>Trace 2: Safety Validation &amp; Audit Logging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• Audit Log Table: Records Log ID 2, Timestamp, Farmer Command ('START_IRRIGATION Field A'), Tool Executed, Action, Status (SUCCESS), and Details.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• Safety Hazard Interception: Setting Water Tank slider to 10% and typing 'Irrigate Field A' triggers Safety Layer block: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• Response: 'Safety Hazard: Water tank level is critically low (10.0%). Irrigation blocked to prevent pump damage.'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13. Comparative Analysis: Task-Specific Systems vs. AFOCC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 / Feature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IoT WSN (Katkoori '25)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Task ML (Khaliq '25)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Q&amp;A Bots (Koopman '24)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AFOCC V1/V2 (SURYAMS002 '26)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Sensor Telemetry Acquisition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Full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Manual Input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Full (ESP32 + Live Weather API)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Live External Weather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Integrated (OpenWeatherMap)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Predictive / Rule Decision 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High Accuracy ML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Text Q&amp;A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Explainable Rule Engine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Natural Language Interaction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Text Q&amp;A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Dynamic Agentic Tool Calling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Operational Tool Dispatch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Dynamic Function Calling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Safety Validation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Active (Hazard Block &lt;=10%)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Farmer Confirmation Dialogue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Interactive Confirmation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Operation Audit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Persistent SQLite Audit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Unified Command Dashboard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Separate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Separate Bot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D37"/>
                          </a:solidFill>
                        </a:defRPr>
                      </a:pPr>
                      <a:r>
                        <a:t>Unified Streamlit Dashboard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14. Proposed Academic Contribution &amp; Novelty Positioning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631"/>
                </a:solidFill>
              </a:defRPr>
            </a:pPr>
            <a:r>
              <a:t>PROPOSED CONTRIBUTION: INTEGRATION &amp; ORCHESTRATION PARADIGM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1. Cautious Academic Framing: We do NOT claim to be the first automated irrigation system or to have invented AI agents.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2. Unified Operational Layer: Demonstrates an agentic architecture uniting Natural Language + Tool Calling + Multi-Source State + Decision Logic + Safety Validation + Streamlit Dashboard.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3. Bounded Safety Architecture: Demonstrates that Generative AI LLMs, when bounded by deterministic Safety Validation, can safely serve as an operational farm command interface without unvalidated actuation risk.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15.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631"/>
                </a:solidFill>
              </a:defRPr>
            </a:pPr>
            <a:r>
              <a:t>SUMMARY OF ACHIEVEMENTS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1. Identified Gap: Addressed operational fragmentation across task-specific smart farming tools.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2. Implemented Prototype: Developed AFOCC V1 using OpenAI function calling, 7 farm tools, and live OpenWeather API.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3. Verified Architecture: Passed 100% of 23 automated Pytest tests; deployed live on Streamlit Cloud &amp; GitHub.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4. Demonstrated Value: Validated that an AI agent can provide a unified, safe, natural-language operational layer over smart farm functions.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15. Technical Limitations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822B"/>
                </a:solidFill>
              </a:defRPr>
            </a:pPr>
            <a:r>
              <a:t>Current V1 Technical Limitations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• Simulated Hardware: Actuation is executed via MockActuator software state mutation in V1.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• Rule-Based Decision Logic: Uses explicit threshold rules rather than trained neural networks.</a:t>
            </a:r>
          </a:p>
          <a:p>
            <a:pPr>
              <a:defRPr sz="1100">
                <a:solidFill>
                  <a:srgbClr val="232D37"/>
                </a:solidFill>
              </a:defRPr>
            </a:pPr>
            <a:r>
              <a:t>• Single-Farm Prototype: Configured for single farm environment (Demo Farm).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4C81"/>
                </a:solidFill>
              </a:defRPr>
            </a:pPr>
            <a:r>
              <a:t>Future Roadmap (V2 Hardware Extensions)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1. Real-Time Physical IoT Sensors: Connect ESP32 microcontrollers with Modbus/RS485 sensors (soil NPK, pH, water level).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2. Xilinx (Zynq / Vivado) FPGA Edge Controller: Sub-millisecond sensor aggregation &amp; hardware safety interlocks.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3. Streamlit Dashboard WebSockets: Add real-time live sensor streaming charts to dashboard.</a:t>
            </a:r>
          </a:p>
          <a:p>
            <a:pPr>
              <a:defRPr sz="1050">
                <a:solidFill>
                  <a:srgbClr val="232D37"/>
                </a:solidFill>
              </a:defRPr>
            </a:pPr>
            <a:r>
              <a:t>4. n8n Automation Engine: Workflow dispatch for relay switching and SMS alert notifications.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16. References (Part 1: Papers 1–11)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000">
                <a:solidFill>
                  <a:srgbClr val="232D37"/>
                </a:solidFill>
              </a:defRPr>
            </a:pPr>
            <a:r>
              <a:t>1. Khaliq, A., et al. (2025). AI-Driven Smart Agriculture: Integrated Approach for Soil, Irrigation &amp; Fertilizer. IEEE Access, 13.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2. Katkoori, A. K., et al. (2025). Real-Time Multisensor Data Acquisition using FreeRTOS. IEEE ICITEICS.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3. Mehedi, M., et al. (2024). Remote Sensing and Decision Support System Applications in Precision Agriculture. IEEE Access.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4. Gupta, M., et al. (2020). Security and Privacy in Smart Farming: Challenges and Opportunities. IEEE Access, 8.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5. Mahmoud, M. A., &amp; Blankson, C. (2026). AI-driven sustainable agriculture: market-oriented strategies. Mgmt Research Review.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6. Sitharthan, R., et al. (2023). A novel autonomous irrigation system using 6G-enabled IoT network. Microprocessors &amp; Microsystems.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7. Romera, A., et al. (2024). Digitalization in agriculture. Towards an integrative approach. Agricultural Systems, 215.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8. Raouhi, E., et al. (2023). AIDSII: An AI-based digital system for intelligent irrigation. Computers &amp; Electronics in Agriculture, 208.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9. Martin, A., et al. (2024). XAI-Powered Smart Agriculture Framework for Crop Recommendation. IEEE Trans. AgriFood Electronics.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10. Singh, P., et al. (2025). Enabling Data Collection and Analysis in Precision Agriculture. IEEE Access.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11. Muhammed, A., et al. (2024). Artificial Intelligence of Things (AIoT) for smart agriculture: A review. IEEE IoT Journal.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22B"/>
                </a:solidFill>
              </a:defRPr>
            </a:pPr>
            <a:r>
              <a:t>MINI-PROJECT REVIEW 2 • AFOCC</a:t>
            </a:r>
          </a:p>
          <a:p>
            <a:pPr>
              <a:defRPr sz="2200" b="1">
                <a:solidFill>
                  <a:srgbClr val="1E5631"/>
                </a:solidFill>
              </a:defRPr>
            </a:pPr>
            <a:r>
              <a:t>16. References (Part 2: Papers 12–22)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000">
                <a:solidFill>
                  <a:srgbClr val="232D37"/>
                </a:solidFill>
              </a:defRPr>
            </a:pPr>
            <a:r>
              <a:t>12. Mohyuddin, S., et al. (2024). Evaluation of Machine Learning Approaches for Smart Agriculture. Springer Applied Intelligence.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13. Araújo, S. O., et al. (2024). Smart Agricultural System Using Proximal Sensing and LoRa Technology. IEEE Access, 12.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14. Reddy, K., et al. (2025). Agri Assist: An AI Integrated Farmer Assistant using Stacked Ensemble ML. IEEE Access.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15. Zhang, Y., &amp; Yadav, V. (2025). Generative AI as an Interface Between Farmers and AI Algorithms. Elsevier Comp. Electr. Agric.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16. Jeya, R., et al. (2024). Agriconnect: A Data-Driven Platform for Precision Agriculture Advice. IEEE Trans. AgriFood Electr.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17. Mowla, N. I., et al. (2023). Internet of Things and Wireless Sensor Networks for Smart Agriculture Applications. IEEE Access.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18. Koopman, B., et al. (2024). AgAsk: An agent to help answer farmer's questions from scientific documents. Int. J. Digital Lib.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19. Prakash, C., Singh, L. P., Gupta, A., &amp; Lohan, S. K. (2023). Advancements in smart farming: A review of IoT, sensors, and hardware. Sensors &amp; Actuators A: Physical, 362, 114605 (Elsevier).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20. Elijah, O., et al. (2024). An Intelligent IoT-Enabled Edge Computing Framework for Autonomous Irrigation. IEEE TASE.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21. Sharma, R., et al. (2024). Real-Time Multimodal Sensor Fusion and AI Assistant for Precision Monitoring. Springer NC&amp;A.</a:t>
            </a:r>
          </a:p>
          <a:p>
            <a:pPr>
              <a:defRPr sz="1000">
                <a:solidFill>
                  <a:srgbClr val="232D37"/>
                </a:solidFill>
              </a:defRPr>
            </a:pPr>
            <a:r>
              <a:t>22. Villa-Henriksen, A., et al. (2024). Interactive Web-Based IoT Dashboard and Cloud DSS for Precision Agriculture. Elsevier Biosystems Engineering.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4431</Words>
  <Application>Microsoft Office PowerPoint</Application>
  <PresentationFormat>Widescreen</PresentationFormat>
  <Paragraphs>433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sanjaybalam19106@gmail.com</cp:lastModifiedBy>
  <cp:revision>1</cp:revision>
  <dcterms:created xsi:type="dcterms:W3CDTF">2013-01-27T09:14:16Z</dcterms:created>
  <dcterms:modified xsi:type="dcterms:W3CDTF">2026-09-02T07:11:21Z</dcterms:modified>
  <cp:category/>
</cp:coreProperties>
</file>