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FBC0E-5A6E-44F8-9B81-0B168EA44435}" v="2" dt="2026-08-31T18:32:38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balam19106@gmail.com" userId="e3a19de2a1eaac1b" providerId="LiveId" clId="{0FB34D9B-55AE-4455-B7ED-2CC65D462CE9}"/>
    <pc:docChg chg="undo custSel modSld">
      <pc:chgData name="sanjaybalam19106@gmail.com" userId="e3a19de2a1eaac1b" providerId="LiveId" clId="{0FB34D9B-55AE-4455-B7ED-2CC65D462CE9}" dt="2026-08-31T18:32:38.874" v="24"/>
      <pc:docMkLst>
        <pc:docMk/>
      </pc:docMkLst>
      <pc:sldChg chg="modSp mod">
        <pc:chgData name="sanjaybalam19106@gmail.com" userId="e3a19de2a1eaac1b" providerId="LiveId" clId="{0FB34D9B-55AE-4455-B7ED-2CC65D462CE9}" dt="2026-08-31T18:32:17.432" v="23" actId="1036"/>
        <pc:sldMkLst>
          <pc:docMk/>
          <pc:sldMk cId="0" sldId="256"/>
        </pc:sldMkLst>
        <pc:spChg chg="mod">
          <ac:chgData name="sanjaybalam19106@gmail.com" userId="e3a19de2a1eaac1b" providerId="LiveId" clId="{0FB34D9B-55AE-4455-B7ED-2CC65D462CE9}" dt="2026-08-31T18:32:17.432" v="23" actId="10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njaybalam19106@gmail.com" userId="e3a19de2a1eaac1b" providerId="LiveId" clId="{0FB34D9B-55AE-4455-B7ED-2CC65D462CE9}" dt="2026-08-31T18:32:12.806" v="2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anjaybalam19106@gmail.com" userId="e3a19de2a1eaac1b" providerId="LiveId" clId="{0FB34D9B-55AE-4455-B7ED-2CC65D462CE9}" dt="2026-08-31T18:28:54.307" v="5" actId="1076"/>
        <pc:sldMkLst>
          <pc:docMk/>
          <pc:sldMk cId="0" sldId="260"/>
        </pc:sldMkLst>
        <pc:picChg chg="mod modCrop">
          <ac:chgData name="sanjaybalam19106@gmail.com" userId="e3a19de2a1eaac1b" providerId="LiveId" clId="{0FB34D9B-55AE-4455-B7ED-2CC65D462CE9}" dt="2026-08-31T18:28:54.307" v="5" actId="1076"/>
          <ac:picMkLst>
            <pc:docMk/>
            <pc:sldMk cId="0" sldId="260"/>
            <ac:picMk id="3" creationId="{00000000-0000-0000-0000-000000000000}"/>
          </ac:picMkLst>
        </pc:picChg>
      </pc:sldChg>
      <pc:sldChg chg="addSp delSp modSp mod">
        <pc:chgData name="sanjaybalam19106@gmail.com" userId="e3a19de2a1eaac1b" providerId="LiveId" clId="{0FB34D9B-55AE-4455-B7ED-2CC65D462CE9}" dt="2026-08-31T18:29:52.481" v="20"/>
        <pc:sldMkLst>
          <pc:docMk/>
          <pc:sldMk cId="0" sldId="261"/>
        </pc:sldMkLst>
        <pc:spChg chg="del mod">
          <ac:chgData name="sanjaybalam19106@gmail.com" userId="e3a19de2a1eaac1b" providerId="LiveId" clId="{0FB34D9B-55AE-4455-B7ED-2CC65D462CE9}" dt="2026-08-31T18:29:52.481" v="20"/>
          <ac:spMkLst>
            <pc:docMk/>
            <pc:sldMk cId="0" sldId="261"/>
            <ac:spMk id="2" creationId="{00000000-0000-0000-0000-000000000000}"/>
          </ac:spMkLst>
        </pc:spChg>
        <pc:picChg chg="add del mod modCrop">
          <ac:chgData name="sanjaybalam19106@gmail.com" userId="e3a19de2a1eaac1b" providerId="LiveId" clId="{0FB34D9B-55AE-4455-B7ED-2CC65D462CE9}" dt="2026-08-31T18:29:51.657" v="18" actId="1076"/>
          <ac:picMkLst>
            <pc:docMk/>
            <pc:sldMk cId="0" sldId="261"/>
            <ac:picMk id="3" creationId="{00000000-0000-0000-0000-000000000000}"/>
          </ac:picMkLst>
        </pc:picChg>
      </pc:sldChg>
      <pc:sldChg chg="modSp mod">
        <pc:chgData name="sanjaybalam19106@gmail.com" userId="e3a19de2a1eaac1b" providerId="LiveId" clId="{0FB34D9B-55AE-4455-B7ED-2CC65D462CE9}" dt="2026-08-31T18:32:38.874" v="24"/>
        <pc:sldMkLst>
          <pc:docMk/>
          <pc:sldMk cId="0" sldId="272"/>
        </pc:sldMkLst>
        <pc:spChg chg="mod">
          <ac:chgData name="sanjaybalam19106@gmail.com" userId="e3a19de2a1eaac1b" providerId="LiveId" clId="{0FB34D9B-55AE-4455-B7ED-2CC65D462CE9}" dt="2026-08-31T18:32:38.874" v="24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41352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9713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822B"/>
                </a:solidFill>
                <a:latin typeface="Calibri"/>
              </a:defRPr>
            </a:pPr>
            <a:r>
              <a:rPr dirty="0"/>
              <a:t>MINI-PROJECT REVIEW – 2</a:t>
            </a:r>
          </a:p>
          <a:p>
            <a:pPr>
              <a:defRPr sz="3200" b="1">
                <a:solidFill>
                  <a:srgbClr val="1E5631"/>
                </a:solidFill>
                <a:latin typeface="Calibri"/>
              </a:defRPr>
            </a:pPr>
            <a:r>
              <a:rPr dirty="0"/>
              <a:t>AI FARM OPERATIONS COMMAND CENTRE (AFOCC)</a:t>
            </a:r>
          </a:p>
          <a:p>
            <a:pPr>
              <a:defRPr sz="1800" i="1">
                <a:solidFill>
                  <a:srgbClr val="0F4C81"/>
                </a:solidFill>
                <a:latin typeface="Calibri"/>
              </a:defRPr>
            </a:pPr>
            <a:r>
              <a:rPr dirty="0"/>
              <a:t>A Unified Natural-Language Operational Orchestration Layer for Smart Agriculture</a:t>
            </a:r>
          </a:p>
          <a:p>
            <a:br>
              <a:rPr dirty="0"/>
            </a:br>
            <a:r>
              <a:rPr dirty="0"/>
              <a:t>Surya M S</a:t>
            </a:r>
            <a:br>
              <a:rPr dirty="0"/>
            </a:br>
            <a:r>
              <a:rPr dirty="0"/>
              <a:t>Reg. No: 22MIA1098</a:t>
            </a:r>
            <a:br>
              <a:rPr dirty="0"/>
            </a:br>
            <a:r>
              <a:rPr dirty="0"/>
              <a:t>Department of Computer Science and Business Analytics</a:t>
            </a:r>
            <a:br>
              <a:rPr dirty="0"/>
            </a:br>
            <a:r>
              <a:rPr dirty="0"/>
              <a:t>Guide: Dr. </a:t>
            </a:r>
            <a:r>
              <a:rPr lang="en-IN" dirty="0"/>
              <a:t>VIVEKANANDAN M</a:t>
            </a:r>
            <a:br>
              <a:rPr dirty="0"/>
            </a:br>
            <a:r>
              <a:rPr dirty="0"/>
              <a:t>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1. Problem Statement &amp; Existing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5631"/>
                </a:solidFill>
              </a:defRPr>
            </a:pPr>
            <a:r>
              <a:t>Existing Smart Farming Fragmentation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• Isolated Applications: Farmers must open separate mobile apps for soil sensors, weather forecasts, disease checking, and pump control.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• Human-as-Data-Router: Farmers bear heavy cognitive load manually cross-referencing multi-source data before making operational decisions.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• Lack of Contextual Intelligence: Individual sensor platforms lack high-level natural language reasoning and dynamic tool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Operational Safety &amp; Usability Gap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• Unvalidated Actuation Risks: Existing automated systems lack safety verification gates to prevent dry-running pumps when water reserves are low.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• Chatbot Limitations: Current AI chatbots offer text Q&amp;A advice but cannot interact with IoT devices or trigger farm tools.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• Core Objective: Provide a single, safe natural-language command centre that connects farmer intent with live farm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2. Proposed Solution — AFOCC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5631"/>
                </a:solidFill>
              </a:defRPr>
            </a:pPr>
            <a:r>
              <a:t>AI FARM OPERATIONS COMMAND CENTRE (AFOCC)</a:t>
            </a:r>
          </a:p>
          <a:p>
            <a:pPr>
              <a:defRPr sz="1800" i="1">
                <a:solidFill>
                  <a:srgbClr val="0F4C81"/>
                </a:solidFill>
              </a:defRPr>
            </a:pPr>
            <a:r>
              <a:t>AFOCC provides a unified operational orchestration layer that translates farmer natural language questions into context-aware decisions, safety checks, and supported farm actions.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✔ Natural Language Command Console: Talk to the farm using everyday English via OpenAI tool-calling agent.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✔ Modular Tool Suite: 7 Python tools fetching live soil moisture, water tank levels, and live OpenWeather API data.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✔ Rule-Based Decision Engine: Explainable threshold rules (Soil &lt;30%, Tank &gt;20%, Rain &lt;60%) recommending actions.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✔ Safety Validation Layer: Active hazard block preventing pump damage if water tank reserve is critically low (&lt;=10%).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✔ Interactive Farmer Confirmation: Prompts the farmer with a confirmation modal ('Yes/No') before executing pump actuation.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✔ Persistent Audit Logging: Stores all commands, decisions, and system executions in SQLite operation_logs.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3. Systematic Literature Review (22 Papers Summary)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1. IoT &amp; Hardware Surveys</a:t>
            </a:r>
          </a:p>
          <a:p>
            <a:pPr>
              <a:defRPr sz="1300" i="1">
                <a:solidFill>
                  <a:srgbClr val="0F4C81"/>
                </a:solidFill>
              </a:defRPr>
            </a:pPr>
            <a:r>
              <a:t>Prakash '23; Katkoori '25; Mowla '23</a:t>
            </a:r>
          </a:p>
          <a:p>
            <a:br/>
            <a:r>
              <a:t>Analyzes WSN protocols, ESP32 MCUs, and sensors. Lacks AI reasoning &amp; natural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3484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2. ML &amp; XAI Decision Support</a:t>
            </a:r>
          </a:p>
          <a:p>
            <a:pPr>
              <a:defRPr sz="1300" i="1">
                <a:solidFill>
                  <a:srgbClr val="0F4C81"/>
                </a:solidFill>
              </a:defRPr>
            </a:pPr>
            <a:r>
              <a:t>Khaliq '25; Martin '24; Mohyuddin '24</a:t>
            </a:r>
          </a:p>
          <a:p>
            <a:br/>
            <a:r>
              <a:t>Delivers high accuracy predictions (99.13%). Isolated from physical actuator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3. Edge AI &amp; Automation</a:t>
            </a:r>
          </a:p>
          <a:p>
            <a:pPr>
              <a:defRPr sz="1300" i="1">
                <a:solidFill>
                  <a:srgbClr val="0F4C81"/>
                </a:solidFill>
              </a:defRPr>
            </a:pPr>
            <a:r>
              <a:t>Elijah '24; Sitharthan '23; Raouhi '23</a:t>
            </a:r>
          </a:p>
          <a:p>
            <a:br/>
            <a:r>
              <a:t>Reduces cloud latency via edge rules. Lacks agentic tool selection &amp; confirmation.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3383280" cy="2194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886199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4. Real-Time Sensing &amp; AI Assist</a:t>
            </a:r>
          </a:p>
          <a:p>
            <a:pPr>
              <a:defRPr sz="1300" i="1">
                <a:solidFill>
                  <a:srgbClr val="0F4C81"/>
                </a:solidFill>
              </a:defRPr>
            </a:pPr>
            <a:r>
              <a:t>Sharma '24; Reddy '25; Jeya '24</a:t>
            </a:r>
          </a:p>
          <a:p>
            <a:br/>
            <a:r>
              <a:t>Provides real-time sensor fusion &amp; Q&amp;A advice. Cannot trigger physical farm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749039"/>
            <a:ext cx="3383280" cy="2194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3886199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5631"/>
                </a:solidFill>
              </a:defRPr>
            </a:pPr>
            <a:r>
              <a:t>5. IoT Web Dashboards</a:t>
            </a:r>
          </a:p>
          <a:p>
            <a:pPr>
              <a:defRPr sz="1300" i="1">
                <a:solidFill>
                  <a:srgbClr val="0F4C81"/>
                </a:solidFill>
              </a:defRPr>
            </a:pPr>
            <a:r>
              <a:t>Villa-Henriksen '24; Al-Fuqaha '25</a:t>
            </a:r>
          </a:p>
          <a:p>
            <a:br/>
            <a:r>
              <a:t>Visualizes live microclimate telemetry cards. Lacks natural-language tool orchestration.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749039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886199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822B"/>
                </a:solidFill>
              </a:defRPr>
            </a:pPr>
            <a:r>
              <a:t>6. Proposed System (AFOCC)</a:t>
            </a:r>
          </a:p>
          <a:p>
            <a:pPr>
              <a:defRPr sz="1300" i="1">
                <a:solidFill>
                  <a:srgbClr val="0F4C81"/>
                </a:solidFill>
              </a:defRPr>
            </a:pPr>
            <a:r>
              <a:t>Surya M S (2026)</a:t>
            </a:r>
          </a:p>
          <a:p>
            <a:br/>
            <a:r>
              <a:t>Integrates Natural Language + Tool Calling + Decision Engine + Safety Gate +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rPr dirty="0"/>
              <a:t>4. Multi-Tiered System Architecture</a:t>
            </a:r>
          </a:p>
        </p:txBody>
      </p:sp>
      <p:pic>
        <p:nvPicPr>
          <p:cNvPr id="3" name="Picture 2" descr="AFOCC_Architecture.png"/>
          <p:cNvPicPr>
            <a:picLocks noChangeAspect="1"/>
          </p:cNvPicPr>
          <p:nvPr/>
        </p:nvPicPr>
        <p:blipFill>
          <a:blip r:embed="rId2"/>
          <a:srcRect t="9364" b="12996"/>
          <a:stretch>
            <a:fillRect/>
          </a:stretch>
        </p:blipFill>
        <p:spPr>
          <a:xfrm>
            <a:off x="997973" y="1061884"/>
            <a:ext cx="94484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FOCC_Workflow.png"/>
          <p:cNvPicPr>
            <a:picLocks noChangeAspect="1"/>
          </p:cNvPicPr>
          <p:nvPr/>
        </p:nvPicPr>
        <p:blipFill>
          <a:blip r:embed="rId2"/>
          <a:srcRect l="1041" t="7299" r="-1041" b="9394"/>
          <a:stretch>
            <a:fillRect/>
          </a:stretch>
        </p:blipFill>
        <p:spPr>
          <a:xfrm>
            <a:off x="1509251" y="154858"/>
            <a:ext cx="9448495" cy="65482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6. Technology Stack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5631"/>
                </a:solidFill>
              </a:defRPr>
            </a:pPr>
            <a:r>
              <a:t>Presentation Layer</a:t>
            </a:r>
          </a:p>
          <a:p>
            <a:br/>
            <a:r>
              <a:t>Streamlit Framework</a:t>
            </a:r>
            <a:br/>
            <a:r>
              <a:t>HTML/CSS Styling</a:t>
            </a:r>
            <a:br/>
            <a:r>
              <a:t>Live Telemetry Cards</a:t>
            </a:r>
            <a:br/>
            <a:r>
              <a:t>Interactive Chat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1460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155448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Agentic Orchestrator</a:t>
            </a:r>
          </a:p>
          <a:p>
            <a:br/>
            <a:r>
              <a:t>OpenAI gpt-4o-mini API</a:t>
            </a:r>
            <a:br/>
            <a:r>
              <a:t>Function Calling Tool Schemas</a:t>
            </a:r>
            <a:br/>
            <a:r>
              <a:t>Resilient Fallback Intent Router</a:t>
            </a:r>
            <a:br/>
            <a:r>
              <a:t>Context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1460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5631"/>
                </a:solidFill>
              </a:defRPr>
            </a:pPr>
            <a:r>
              <a:t>Tools &amp; Decision Services</a:t>
            </a:r>
          </a:p>
          <a:p>
            <a:br/>
            <a:r>
              <a:t>Python Modular Tools</a:t>
            </a:r>
            <a:br/>
            <a:r>
              <a:t>OpenWeatherMap REST API</a:t>
            </a:r>
            <a:br/>
            <a:r>
              <a:t>Rule-Based Decision Engine</a:t>
            </a:r>
            <a:br/>
            <a:r>
              <a:t>SafetyValidator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51460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554480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822B"/>
                </a:solidFill>
              </a:defRPr>
            </a:pPr>
            <a:r>
              <a:t>Data &amp; Hardware Layer</a:t>
            </a:r>
          </a:p>
          <a:p>
            <a:br/>
            <a:r>
              <a:t>SQLite afocc.db</a:t>
            </a:r>
            <a:br/>
            <a:r>
              <a:t>ESP32 Modbus WSN Sensors</a:t>
            </a:r>
            <a:br/>
            <a:r>
              <a:t>Xilinx FPGA Edge Controller</a:t>
            </a:r>
            <a:br/>
            <a:r>
              <a:t>Solenoid Relay Actuator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7. Core Modules &amp; Functional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5631"/>
                </a:solidFill>
              </a:defRPr>
            </a:pPr>
            <a:r>
              <a:t>1. Modular Tool Suite (app/tools/)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Includes water.py, soil.py, weather.py, and farm_status.py. Fetches live OpenWeather API telemetry &amp; database states.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2. Rule Decision Engine (app/services/decision_engine.py)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Evaluates explainable threshold rules: Soil Moisture &lt; 30%, Water Tank &gt; 20%, and Rain Probability &lt;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40479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5631"/>
                </a:solidFill>
              </a:defRPr>
            </a:pPr>
            <a:r>
              <a:t>3. Safety Validation Layer (app/services/safety.py)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Acts as an active software safety gate: Blocks pump execution if water tank level is &lt;= 10% reserve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4. Operation Audit Logger (app/database/database.py)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Permanently records farmer commands, AI tool calls, safety validation outcomes, and pump status in SQLite operation_logs 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8. Implementation Progress &amp; Automated Test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Module / Component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 File / Interface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Status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Verification Result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SQLite Schema &amp; DB Manager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app/database/database.py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(4/4 Tests)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FastAPI REST API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app/api/routes.py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(3/3 Tests)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7 Modular Farm Tools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app/tools/*.py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(5/5 Tests)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OpenWeatherMap Live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app/tools/weather.py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(1/1 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Rule-Based Decision Engine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app/services/decision_engine.py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(2/2 Tests)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Mock Actuator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app/services/actuator.py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(2/2 Tests)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OpenAI Tool Calling Agent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app/agent/agent.py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(4/4 Tests)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Safety Validation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app/services/safety.py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Passed (3/3 Tests)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Streamlit Command Dashboard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streamlit_app.py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Live Port :8501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ESP32 Sensors &amp; Xilinx FPGA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Modbus &amp; Zynq/Vivado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PLANNED (V2 Roadmap)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D32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9. Execution Traces &amp; System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5631"/>
                </a:solidFill>
              </a:defRPr>
            </a:pPr>
            <a:r>
              <a:t>Trace 1: Command &amp; Telemetry Execution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Live Dashboard Telemetry: Displays Water Tank (40.0%), Field A Moisture (24.0%), Field B Moisture (48.0%), Weather (31°C, 15% rain prob).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Farmer Natural Language Input: 'Should I irrigate Field A?'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Agent Processing: Agent executes get_soil_moisture, get_water_tank_status, and get_weather tools automatically.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System Recommendation: Decision engine returns RECOMMENDED with interactive confirmation buttons.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C81"/>
                </a:solidFill>
              </a:defRPr>
            </a:pPr>
            <a:r>
              <a:t>Trace 2: Safety Interception &amp; Audit Logging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Safety Interception Test: Water Tank slider set to 10.0% reserve.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Farmer Command: 'Irrigate Field A'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Safety Gate Action: SafetyValidator intercepts command before actuation and outputs warning: 'Safety Hazard: Water tank level is critically low (10.0%). Irrigation blocked to prevent pump damage.'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Audit Log Record: Operation logged in SQLite operation_logs with status BLOCKED_HAZARD.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10. Comparative Analysis: Existing Systems vs. AFOCC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84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System Feature / Capability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IoT WSN (Katkoori '25)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Task ML (Khaliq '25)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Q&amp;A Bots (Koopman '24)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AFOCC V1/V2 (Surya M S '26)</a:t>
                      </a:r>
                    </a:p>
                  </a:txBody>
                  <a:tcPr>
                    <a:solidFill>
                      <a:srgbClr val="1E56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Sensor Telemetry Acquisition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Full WSN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Manual Input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Full (ESP32 + Weather API)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Live Weather API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Integrated (OpenWeatherMap)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Predictive Decision Support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High Accuracy ML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Text Q&amp;A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Explainable Rule Engine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Natural Language Interaction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Text Q&amp;A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Dynamic Agentic Tool Calling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Operational Tool Dispatch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Dynamic Function Calling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Active Safety Validation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Active (Hazard Block &lt;=10%)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Interactive Farmer Confirmation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Interactive Confirmation Modal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Operation Audit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Persistent SQLite 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Unified Web Command Dashboard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Separate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Separate Bot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D32"/>
                          </a:solidFill>
                        </a:defRPr>
                      </a:pPr>
                      <a:r>
                        <a:t>Unified Streamlit Dashboard</a:t>
                      </a:r>
                    </a:p>
                  </a:txBody>
                  <a:tcPr>
                    <a:solidFill>
                      <a:srgbClr val="F5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11. Technical Scope &amp; Current V1 Boundaries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5631"/>
                </a:solidFill>
              </a:defRPr>
            </a:pPr>
            <a:r>
              <a:t>Implemented V1 Boundaries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✅ Software Actuation Simulation: Uses MockActuator software state mutations for pump ON/OFF control.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✅ Rule-Based Decision Logic: Uses explicit threshold rules (Soil &lt;30%, Tank &gt;20%) to maintain 100% explainability.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✅ Single Farm Configuration: Designed for single farm operation (Demo Farm) in V1 phase.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✅ Verified Test Suite: 23 automated tests verifying API, tools, database, and safety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4C81"/>
                </a:solidFill>
              </a:defRPr>
            </a:pPr>
            <a:r>
              <a:t>Academic &amp; Design Constraints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Academic Framing Rule: We do NOT claim AFOCC is the first smart farming system or that we invented AI agents.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Focus Area: Contribution is strictly focused on Unified Operational Integration and Bounded LLM Safety.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• Deterministic Safety Gate: Demonstrates that Generative AI models can safely manage farm operations when bounded by deterministic safety checks.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12. Future Enhancement Roadmap (V2 Hardware)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1. Real-Time ESP32 Sensor Nodes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Connect physical ESP32 microcontrollers with Modbus/RS485 sensor buses for live soil NPK, pH, moisture, and tank ultrasonic levels.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5631"/>
                </a:solidFill>
              </a:defRPr>
            </a:pPr>
            <a:r>
              <a:t>2. Xilinx FPGA Edge Controller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Integrate Xilinx (Zynq / Vivado) FPGA hardware acceleration for sub-millisecond sensor signal filtering and hardware safety interlocks.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40479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3. Streamlit Dashboard WebSockets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Implement WebSocket real-time sensor streaming charts to display live telemetry dynamics without page refreshes.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5631"/>
                </a:solidFill>
              </a:defRPr>
            </a:pPr>
            <a:r>
              <a:t>4. n8n Multi-Device Automation Engine</a:t>
            </a:r>
          </a:p>
          <a:p>
            <a:pPr>
              <a:defRPr sz="1500">
                <a:solidFill>
                  <a:srgbClr val="282D32"/>
                </a:solidFill>
              </a:defRPr>
            </a:pPr>
            <a:r>
              <a:t>Deploy n8n workflow engine for automated multi-device relay switching, SMS alert dispatch, and scheduled irrigation tasks.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13. Conclusion &amp; Key Academic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5631"/>
                </a:solidFill>
              </a:defRPr>
            </a:pPr>
            <a:r>
              <a:t>SUMMARY OF PROJECT CONTRIBUTIONS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1. Resolved Operational Fragmentation: Successfully unified separate smart farming tools into a single natural language operational interface.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2. Implemented Agentic Architecture: Built working prototype using OpenAI tool calling, 7 modular farm tools, live OpenWeather API, and SQLite database.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3. Demonstrated Bounded LLM Safety: Validated that an AI agent, when governed by an active Safety Validation Gate (hazard block &lt;=10% tank level), provides safe and reliable farm actuation.</a:t>
            </a:r>
          </a:p>
          <a:p>
            <a:pPr>
              <a:defRPr sz="1600">
                <a:solidFill>
                  <a:srgbClr val="282D32"/>
                </a:solidFill>
              </a:defRPr>
            </a:pPr>
            <a:r>
              <a:t>4. Complete System Verification: Verified with 23 passing automated tests and deployed live on Streamlit Cloud.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14. References (Part 1: Papers 1–11)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1. Khaliq, A., et al. (2025). AI-Driven Smart Agriculture: Integrated Approach for Soil, Irrigation &amp; Fertilizer. IEEE Access, 13.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2. Katkoori, A. K., et al. (2025). Real-Time Multisensor Data Acquisition using FreeRTOS. IEEE ICITEICS.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3. Mehedi, M., et al. (2024). Remote Sensing and Decision Support System Applications in Precision Agriculture. IEEE Access.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4. Gupta, M., et al. (2020). Security and Privacy in Smart Farming: Challenges and Opportunities. IEEE Access, 8.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5. Mahmoud, M. A., &amp; Blankson, C. (2026). AI-driven sustainable agriculture: market-oriented strategies. Mgmt Research Review.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6. Sitharthan, R., et al. (2023). A novel autonomous irrigation system using 6G-enabled IoT network. Microprocessors &amp; Microsystems.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7. Romera, A., et al. (2024). Digitalization in agriculture. Towards an integrative approach. Agricultural Systems, 215.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8. Raouhi, E., et al. (2023). AIDSII: An AI-based digital system for intelligent irrigation. Computers &amp; Electronics in Agriculture, 208.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9. Martin, A., et al. (2024). XAI-Powered Smart Agriculture Framework for Crop Recommendation. IEEE Trans. AgriFood Electronics.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10. Singh, P., et al. (2025). Enabling Data Collection and Analysis in Precision Agriculture. IEEE Access.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11. Muhammed, A., et al. (2024). Artificial Intelligence of Things (AIoT) for smart agriculture: A review. IEEE IoT Journal.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5631"/>
                </a:solidFill>
                <a:latin typeface="Calibri"/>
              </a:defRPr>
            </a:pPr>
            <a:r>
              <a:t>15. References (Part 2: Papers 12–22)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5F7F8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12. Mohyuddin, S., et al. (2024). Evaluation of Machine Learning Approaches for Smart Agriculture. Springer Applied Intelligence.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13. Araújo, S. O., et al. (2024). Smart Agricultural System Using Proximal Sensing and LoRa Technology. IEEE Access, 12.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14. Reddy, K., et al. (2025). Agri Assist: An AI Integrated Farmer Assistant using Stacked Ensemble ML. IEEE Access.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15. Zhang, Y., &amp; Yadav, V. (2025). Generative AI as an Interface Between Farmers and AI Algorithms. Elsevier Comp. Electr. Agric.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16. Jeya, R., et al. (2024). Agriconnect: A Data-Driven Platform for Precision Agriculture Advice. IEEE Trans. AgriFood Electr.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17. Mowla, N. I., et al. (2023). Internet of Things and Wireless Sensor Networks for Smart Agriculture Applications. IEEE Access.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18. Koopman, B., et al. (2024). AgAsk: An agent to help answer farmer's questions from scientific documents. Int. J. Digital Lib.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19. Prakash, C., Singh, L. P., Gupta, A., &amp; Lohan, S. K. (2023). Advancements in smart farming: A review of IoT, sensors, and hardware. Sensors &amp; Actuators A: Physical, 362, 114605 (Elsevier).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20. Elijah, O., et al. (2024). An Intelligent IoT-Enabled Edge Computing Framework for Autonomous Irrigation. IEEE TASE.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21. Sharma, R., et al. (2024). Real-Time Multimodal Sensor Fusion and AI Assistant for Precision Monitoring. Springer NC&amp;A.</a:t>
            </a:r>
          </a:p>
          <a:p>
            <a:pPr>
              <a:defRPr sz="1400">
                <a:solidFill>
                  <a:srgbClr val="282D32"/>
                </a:solidFill>
              </a:defRPr>
            </a:pPr>
            <a:r>
              <a:t>22. Villa-Henriksen, A., et al. (2024). Interactive Web-Based IoT Dashboard and Cloud DSS for Precision Agriculture. Elsevier Biosystems Engineering.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5631"/>
                </a:solidFill>
                <a:latin typeface="Calibri"/>
              </a:defRPr>
            </a:pPr>
            <a:r>
              <a:rPr dirty="0"/>
              <a:t>THANK YOU!</a:t>
            </a:r>
          </a:p>
          <a:p>
            <a:pPr algn="ctr">
              <a:defRPr sz="2200" b="1">
                <a:solidFill>
                  <a:srgbClr val="0F4C81"/>
                </a:solidFill>
                <a:latin typeface="Calibri"/>
              </a:defRPr>
            </a:pPr>
            <a:r>
              <a:rPr dirty="0"/>
              <a:t>AI FARM OPERATIONS COMMAND CENTRE (AFOCC)</a:t>
            </a:r>
          </a:p>
          <a:p>
            <a:br>
              <a:rPr dirty="0"/>
            </a:br>
            <a:r>
              <a:rPr dirty="0"/>
              <a:t>Presenter: Surya M S (Reg. No: 22MIA1098)</a:t>
            </a:r>
            <a:br>
              <a:rPr dirty="0"/>
            </a:br>
            <a:r>
              <a:rPr dirty="0"/>
              <a:t>Department of Computer Science and Business Analytics</a:t>
            </a:r>
            <a:br>
              <a:rPr dirty="0"/>
            </a:br>
            <a:r>
              <a:rPr dirty="0"/>
              <a:t>Guide: Dr. </a:t>
            </a:r>
            <a:r>
              <a:rPr lang="en-IN" dirty="0"/>
              <a:t>VIVEKANANDAN 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2376</Words>
  <Application>Microsoft Office PowerPoint</Application>
  <PresentationFormat>Widescreen</PresentationFormat>
  <Paragraphs>221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sanjaybalam19106@gmail.com</cp:lastModifiedBy>
  <cp:revision>1</cp:revision>
  <dcterms:created xsi:type="dcterms:W3CDTF">2013-01-27T09:14:16Z</dcterms:created>
  <dcterms:modified xsi:type="dcterms:W3CDTF">2026-08-31T18:32:48Z</dcterms:modified>
  <cp:category/>
</cp:coreProperties>
</file>